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71" r:id="rId14"/>
    <p:sldId id="27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/>
    <p:restoredTop sz="76300"/>
  </p:normalViewPr>
  <p:slideViewPr>
    <p:cSldViewPr snapToGrid="0" snapToObjects="1">
      <p:cViewPr varScale="1">
        <p:scale>
          <a:sx n="113" d="100"/>
          <a:sy n="113" d="100"/>
        </p:scale>
        <p:origin x="1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6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Most existing systems can tell us </a:t>
            </a:r>
            <a:r>
              <a:rPr lang="en-IN" i="1" dirty="0"/>
              <a:t>where</a:t>
            </a:r>
            <a:r>
              <a:rPr lang="en-IN" dirty="0"/>
              <a:t> forests are being lost.</a:t>
            </a:r>
            <a:br>
              <a:rPr lang="en-IN" dirty="0"/>
            </a:br>
            <a:r>
              <a:rPr lang="en-IN" dirty="0"/>
              <a:t>But our key question is — can we go beyond that? </a:t>
            </a:r>
            <a:br>
              <a:rPr lang="en-IN" dirty="0"/>
            </a:br>
            <a:endParaRPr lang="en-IN" dirty="0"/>
          </a:p>
          <a:p>
            <a:r>
              <a:rPr lang="en-IN" dirty="0"/>
              <a:t>Can we actually understand </a:t>
            </a:r>
            <a:r>
              <a:rPr lang="en-IN" i="1" dirty="0"/>
              <a:t>what kind of deforestation is happening</a:t>
            </a:r>
            <a:r>
              <a:rPr lang="en-IN" dirty="0"/>
              <a:t>, just from the patterns we observe? </a:t>
            </a:r>
            <a:br>
              <a:rPr lang="en-IN" dirty="0"/>
            </a:br>
            <a:endParaRPr lang="en-IN" dirty="0"/>
          </a:p>
          <a:p>
            <a:r>
              <a:rPr lang="en-IN" dirty="0"/>
              <a:t>Our work explores whether deforestation events leave </a:t>
            </a:r>
            <a:r>
              <a:rPr lang="en-IN" b="1" dirty="0"/>
              <a:t>repeatable signatures</a:t>
            </a:r>
            <a:r>
              <a:rPr lang="en-IN" dirty="0"/>
              <a:t>, and whether we can discover those patterns automatically.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Right now, global monitoring systems like Hansen or Global Forest Watch are extremely powerful.</a:t>
            </a:r>
          </a:p>
          <a:p>
            <a:r>
              <a:rPr lang="en-IN" dirty="0"/>
              <a:t>They give us </a:t>
            </a:r>
            <a:r>
              <a:rPr lang="en-IN" b="1" dirty="0"/>
              <a:t>high-resolution maps</a:t>
            </a:r>
            <a:r>
              <a:rPr lang="en-IN" dirty="0"/>
              <a:t> showing exactly where and when forest loss occurs.   But there’s a big limitation.</a:t>
            </a:r>
          </a:p>
          <a:p>
            <a:r>
              <a:rPr lang="en-IN" dirty="0"/>
              <a:t>These outputs are essentially </a:t>
            </a:r>
            <a:r>
              <a:rPr lang="en-IN" b="1" dirty="0"/>
              <a:t>binary</a:t>
            </a:r>
            <a:r>
              <a:rPr lang="en-IN" dirty="0"/>
              <a:t> — loss or no loss.</a:t>
            </a:r>
            <a:br>
              <a:rPr lang="en-IN" dirty="0"/>
            </a:br>
            <a:r>
              <a:rPr lang="en-IN" dirty="0"/>
              <a:t>They don’t tell us </a:t>
            </a:r>
            <a:r>
              <a:rPr lang="en-IN" i="1" dirty="0"/>
              <a:t>what caused the loss</a:t>
            </a:r>
            <a:r>
              <a:rPr lang="en-IN" dirty="0"/>
              <a:t>. For example, a road, a farm, and logging activity all look the same in these maps.</a:t>
            </a:r>
          </a:p>
          <a:p>
            <a:r>
              <a:rPr lang="en-IN" dirty="0"/>
              <a:t>But visually, they are very different: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Roads are </a:t>
            </a:r>
            <a:r>
              <a:rPr lang="en-IN" b="1" dirty="0"/>
              <a:t>linear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Agriculture is </a:t>
            </a:r>
            <a:r>
              <a:rPr lang="en-IN" b="1" dirty="0"/>
              <a:t>blocky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Logging is </a:t>
            </a:r>
            <a:r>
              <a:rPr lang="en-IN" b="1" dirty="0"/>
              <a:t>fragmented</a:t>
            </a:r>
            <a:endParaRPr lang="en-IN" dirty="0"/>
          </a:p>
          <a:p>
            <a:r>
              <a:rPr lang="en-IN" dirty="0"/>
              <a:t>So the core question is —</a:t>
            </a:r>
            <a:br>
              <a:rPr lang="en-IN" dirty="0"/>
            </a:br>
            <a:r>
              <a:rPr lang="en-IN" i="1" dirty="0"/>
              <a:t>Are these patterns consistent enough that we can discover them automatically?</a:t>
            </a:r>
            <a:r>
              <a:rPr lang="en-IN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The shape of a deforestation event encodes the process behind it.</a:t>
            </a:r>
            <a:endParaRPr lang="en-IN" dirty="0"/>
          </a:p>
          <a:p>
            <a:r>
              <a:rPr lang="en-IN" dirty="0"/>
              <a:t>And importantly, we don’t rely on </a:t>
            </a:r>
            <a:r>
              <a:rPr lang="en-IN" dirty="0" err="1"/>
              <a:t>labeled</a:t>
            </a:r>
            <a:r>
              <a:rPr lang="en-IN" dirty="0"/>
              <a:t>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First, </a:t>
            </a:r>
            <a:r>
              <a:rPr lang="en-IN" b="1" dirty="0"/>
              <a:t>we extract events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Instead of looking at individual pixels, we group connected loss pixels into </a:t>
            </a:r>
            <a:r>
              <a:rPr lang="en-IN" b="1" dirty="0"/>
              <a:t>event patches</a:t>
            </a:r>
            <a:r>
              <a:rPr lang="en-IN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Second, we </a:t>
            </a:r>
            <a:r>
              <a:rPr lang="en-IN" b="1" dirty="0"/>
              <a:t>compute features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We measure the shape of each event using things like: Finally, we </a:t>
            </a:r>
            <a:r>
              <a:rPr lang="en-IN" b="1" dirty="0"/>
              <a:t>cluster these events using HDBSCAN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This lets us discover natural groupings </a:t>
            </a:r>
            <a:r>
              <a:rPr lang="en-IN" i="1" dirty="0"/>
              <a:t>without predefining how many clusters exist</a:t>
            </a:r>
            <a:r>
              <a:rPr lang="en-IN" dirty="0"/>
              <a:t>. 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use data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Hansen Global Forest 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Sentinel-2 imagery</a:t>
            </a:r>
          </a:p>
          <a:p>
            <a:r>
              <a:rPr lang="en-IN" dirty="0"/>
              <a:t>The important part is how we define our unit of analysis.</a:t>
            </a:r>
          </a:p>
          <a:p>
            <a:r>
              <a:rPr lang="en-IN" dirty="0"/>
              <a:t>We start with:</a:t>
            </a:r>
          </a:p>
          <a:p>
            <a:pPr>
              <a:buFont typeface="+mj-lt"/>
              <a:buAutoNum type="arabicPeriod"/>
            </a:pPr>
            <a:r>
              <a:rPr lang="en-IN" dirty="0"/>
              <a:t>An annual loss map</a:t>
            </a:r>
          </a:p>
          <a:p>
            <a:pPr>
              <a:buFont typeface="+mj-lt"/>
              <a:buAutoNum type="arabicPeriod"/>
            </a:pPr>
            <a:r>
              <a:rPr lang="en-IN" dirty="0"/>
              <a:t>Group pixels into connected components</a:t>
            </a:r>
          </a:p>
          <a:p>
            <a:pPr>
              <a:buFont typeface="+mj-lt"/>
              <a:buAutoNum type="arabicPeriod"/>
            </a:pPr>
            <a:r>
              <a:rPr lang="en-IN" dirty="0"/>
              <a:t>Treat each group as a </a:t>
            </a:r>
            <a:r>
              <a:rPr lang="en-IN" b="1" dirty="0"/>
              <a:t>single event</a:t>
            </a:r>
            <a:endParaRPr lang="en-IN" dirty="0"/>
          </a:p>
          <a:p>
            <a:r>
              <a:rPr lang="en-IN" dirty="0"/>
              <a:t>This allows the model to reason about </a:t>
            </a:r>
            <a:r>
              <a:rPr lang="en-IN" b="1" dirty="0"/>
              <a:t>entire deforestation events</a:t>
            </a:r>
            <a:r>
              <a:rPr lang="en-IN" dirty="0"/>
              <a:t>, rather than isolated pixels — which is critical for capturing shape.”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“When we apply our clustering approach, we discover 14 distinct archetypes of deforestation events.</a:t>
            </a:r>
          </a:p>
          <a:p>
            <a:r>
              <a:rPr lang="en-US" dirty="0"/>
              <a:t>Importantly, this is done without any predefined labels.</a:t>
            </a:r>
          </a:p>
          <a:p>
            <a:r>
              <a:rPr lang="en-US" dirty="0"/>
              <a:t>Only about 5.6% of events are classified as noise, which means most events fall into meaningful groups.</a:t>
            </a:r>
          </a:p>
          <a:p>
            <a:r>
              <a:rPr lang="en-US" dirty="0"/>
              <a:t>These clusters separate along interpretable dimensions like size, compactness, elongation, and edge complexity.</a:t>
            </a:r>
          </a:p>
          <a:p>
            <a:r>
              <a:rPr lang="en-US" dirty="0"/>
              <a:t>This indicates that the patterns we observe reflect real morphological structure, not random variation.”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slide shows a UMAP projection of all deforestation events in feature space.</a:t>
            </a:r>
          </a:p>
          <a:p>
            <a:r>
              <a:rPr lang="en-US" dirty="0"/>
              <a:t>Each point represents a single event, and the color indicates the cluster assigned by HDBSCAN.</a:t>
            </a:r>
          </a:p>
          <a:p>
            <a:r>
              <a:rPr lang="en-US" dirty="0"/>
              <a:t>Points that are closer together have more similar shapes.</a:t>
            </a:r>
          </a:p>
          <a:p>
            <a:r>
              <a:rPr lang="en-US" dirty="0"/>
              <a:t>What we observe is that events form distinct groups rather than blending together, which shows that the archetypes are well-separated and reflect real structure in the data.”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🔍 2. What this plot actually is</a:t>
            </a:r>
          </a:p>
          <a:p>
            <a:r>
              <a:rPr lang="en-US" dirty="0"/>
              <a:t>You took:</a:t>
            </a:r>
          </a:p>
          <a:p>
            <a:r>
              <a:rPr lang="en-US" dirty="0"/>
              <a:t>High-dimensional feature space (6–8 features) </a:t>
            </a:r>
          </a:p>
          <a:p>
            <a:r>
              <a:rPr lang="en-US" dirty="0"/>
              <a:t>And reduced it to:</a:t>
            </a:r>
          </a:p>
          <a:p>
            <a:r>
              <a:rPr lang="en-US" dirty="0"/>
              <a:t>2D using </a:t>
            </a:r>
            <a:r>
              <a:rPr lang="en-US" b="1" dirty="0"/>
              <a:t>UMAP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Important:</a:t>
            </a:r>
          </a:p>
          <a:p>
            <a:r>
              <a:rPr lang="en-US" dirty="0"/>
              <a:t>UMAP preserves:</a:t>
            </a:r>
          </a:p>
          <a:p>
            <a:r>
              <a:rPr lang="en-US" b="1" dirty="0"/>
              <a:t>local similarity</a:t>
            </a:r>
            <a:r>
              <a:rPr lang="en-US" dirty="0"/>
              <a:t> (similar points stay close)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slide shows how we interpret the discovered archetypes.</a:t>
            </a:r>
          </a:p>
          <a:p>
            <a:r>
              <a:rPr lang="en-US" dirty="0"/>
              <a:t>We find that different geometric patterns correspond to different real-world deforestation processes.</a:t>
            </a:r>
          </a:p>
          <a:p>
            <a:r>
              <a:rPr lang="en-US" dirty="0"/>
              <a:t>For example, linear patterns align with roads and infrastructure expansion, compact blocky patterns align with agricultural clearing, and fragmented patterns align with selective logging.</a:t>
            </a:r>
          </a:p>
          <a:p>
            <a:r>
              <a:rPr lang="en-US" dirty="0"/>
              <a:t>The key point is that these interpretations emerge from geometry alone, without using labels.”</a:t>
            </a:r>
          </a:p>
          <a:p>
            <a:r>
              <a:rPr lang="en-US" dirty="0"/>
              <a:t>You are doing:</a:t>
            </a:r>
          </a:p>
          <a:p>
            <a:r>
              <a:rPr lang="en-US" b="1" dirty="0"/>
              <a:t>Unsupervised clusters → Human interpretation → Real-world processes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validate our archetypes, we evaluate both stability and learnability.</a:t>
            </a:r>
          </a:p>
          <a:p>
            <a:r>
              <a:rPr lang="en-US" dirty="0"/>
              <a:t>First, we test stability by running the clustering multiple times with different random seeds and measuring agreement using the Adjusted Rand Index. We observe a mean ARI of about 0.66, which indicates consistent clustering structure.</a:t>
            </a:r>
          </a:p>
          <a:p>
            <a:r>
              <a:rPr lang="en-US" dirty="0"/>
              <a:t>Second, we test learnability by training a k-nearest neighbors classifier on held-out data. We achieve about 98% accuracy with a near-diagonal confusion matrix, showing that the archetypes are well-separated and can be reliably assigned to new events.</a:t>
            </a:r>
          </a:p>
          <a:p>
            <a:r>
              <a:rPr lang="en-US" dirty="0"/>
              <a:t>Together, this shows that the patterns we discover are both stable and learnable.”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“As an exploratory step, we test whether certain archetypes are associated with higher risk.</a:t>
            </a:r>
          </a:p>
          <a:p>
            <a:r>
              <a:rPr lang="en-US" dirty="0"/>
              <a:t>We train a simple model using the same geometric features and observe a very high ROC-AUC of 0.994.</a:t>
            </a:r>
          </a:p>
          <a:p>
            <a:r>
              <a:rPr lang="en-US" dirty="0"/>
              <a:t>We also find that some clusters are consistently high-risk, while others are near zero.</a:t>
            </a:r>
          </a:p>
          <a:p>
            <a:r>
              <a:rPr lang="en-US" dirty="0"/>
              <a:t>However, it’s important to note that this is not independent validation, since the labels are derived from the same geometry used for clustering.</a:t>
            </a:r>
          </a:p>
          <a:p>
            <a:r>
              <a:rPr lang="en-US" dirty="0"/>
              <a:t>So this result should be interpreted as a signal, not as a causal or deployable model.”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 we test whether our approach generalizes to larger and more diverse data.</a:t>
            </a:r>
          </a:p>
          <a:p>
            <a:r>
              <a:rPr lang="en-US" dirty="0"/>
              <a:t>We apply the same morphology-first pipeline to a 15,000-event global Hansen dataset, with no modifications.</a:t>
            </a:r>
          </a:p>
          <a:p>
            <a:r>
              <a:rPr lang="en-US" dirty="0"/>
              <a:t>What we observe is that cluster structure still emerges, although it becomes noisier due to greater geographic diversity.</a:t>
            </a:r>
          </a:p>
          <a:p>
            <a:r>
              <a:rPr lang="en-US" dirty="0"/>
              <a:t>This suggests that the patterns we discovered are not specific to one dataset, but reflect a more general property of deforestation.”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“These boxplots show how each feature varies across the 14 clusters.</a:t>
            </a:r>
            <a:br>
              <a:rPr lang="en-US" dirty="0"/>
            </a:br>
            <a:r>
              <a:rPr lang="en-US" dirty="0"/>
              <a:t>What we see is that each cluster has a distinct signature — for example, some clusters are large and compact, others are small and elongated, and some are highly fragmented.</a:t>
            </a:r>
          </a:p>
          <a:p>
            <a:r>
              <a:rPr lang="en-US" dirty="0"/>
              <a:t>This confirms that the clustering is capturing real morphological differences, not random groupings.</a:t>
            </a:r>
            <a:br>
              <a:rPr lang="en-US" dirty="0"/>
            </a:br>
            <a:r>
              <a:rPr lang="en-US" dirty="0"/>
              <a:t>Each archetype is defined by a combination of size, shape, and boundary complexity.”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E22"/>
          </a:solidFill>
          <a:ln w="12700">
            <a:solidFill>
              <a:srgbClr val="162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Forest Loss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Deforestation Archetypes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is not random — events leave repeatable spatial and temporal signatures.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4526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Sagi  ·  Sakethram Naidu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Current Monitoring Tells Us Where — Not What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have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systems (Hansen/GFW) reliably detect where &amp; when forest loss occurred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 annual maps at planetary scale — remarkable coverage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binary: loss vs. no loss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Morphology, recurrence, and process are invisible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distinguish agriculture from roads from logging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023360"/>
            <a:ext cx="8321040" cy="8869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23360"/>
            <a:ext cx="82296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different deforestation events leave repeatable spatial signatures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 without labels?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109728" cy="85039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097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corridor-like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7488" y="1389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tracks — elongated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993392"/>
            <a:ext cx="39319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993392"/>
            <a:ext cx="109728" cy="85039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084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Blocky / compact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47488" y="2377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— uniform patch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80944"/>
            <a:ext cx="39319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80944"/>
            <a:ext cx="109728" cy="85039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30723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/ mosaic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7488" y="33649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— broken edges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4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Idea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321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shape encodes the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deforestation process.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2651760" cy="1417320"/>
          </a:xfrm>
          <a:prstGeom prst="rect">
            <a:avLst/>
          </a:prstGeom>
          <a:solidFill>
            <a:srgbClr val="162E22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015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3858768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drivers leave different geometric fingerprints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3337560"/>
            <a:ext cx="2651760" cy="1417320"/>
          </a:xfrm>
          <a:prstGeom prst="rect">
            <a:avLst/>
          </a:prstGeom>
          <a:solidFill>
            <a:srgbClr val="162E22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34015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01568" y="3858768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fingerprints are discoverable without labels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337560"/>
            <a:ext cx="2651760" cy="1417320"/>
          </a:xfrm>
          <a:prstGeom prst="rect">
            <a:avLst/>
          </a:prstGeom>
          <a:solidFill>
            <a:srgbClr val="162E22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4015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36208" y="3858768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 turn detection into interpretable action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Unsupervised Archetype Discovery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describe → interpret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234440"/>
            <a:ext cx="731520" cy="73152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487168"/>
            <a:ext cx="23317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annual loss pixels by spatial connectivity into contiguous event patches. One patch = one event.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2377440" cy="320040"/>
          </a:xfrm>
          <a:prstGeom prst="rect">
            <a:avLst/>
          </a:prstGeom>
          <a:solidFill>
            <a:srgbClr val="EFF5EC"/>
          </a:solidFill>
          <a:ln w="12700">
            <a:solidFill>
              <a:srgbClr val="EFF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Hansen GFW (30m) + Sentinel-2 (10–20m)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1234440"/>
            <a:ext cx="731520" cy="73152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4992" y="2487168"/>
            <a:ext cx="23317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geometry: area, perimeter, compactness, eccentricity, aspect ratio, edge density, mask fraction.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3611880"/>
            <a:ext cx="2377440" cy="320040"/>
          </a:xfrm>
          <a:prstGeom prst="rect">
            <a:avLst/>
          </a:prstGeom>
          <a:solidFill>
            <a:srgbClr val="EFF5EC"/>
          </a:solidFill>
          <a:ln w="12700">
            <a:solidFill>
              <a:srgbClr val="EFF5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morphological descriptors per event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1234440"/>
            <a:ext cx="731520" cy="73152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7220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with HDBSCAN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99632" y="2487168"/>
            <a:ext cx="23317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recurring archetypes without predefining cluster count. Genuine outliers stay as noise.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611880"/>
            <a:ext cx="2377440" cy="320040"/>
          </a:xfrm>
          <a:prstGeom prst="rect">
            <a:avLst/>
          </a:prstGeom>
          <a:solidFill>
            <a:srgbClr val="EFF5EC"/>
          </a:solidFill>
          <a:ln w="12700">
            <a:solidFill>
              <a:srgbClr val="EFF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required — fully unsupervised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832104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062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reason over event morphology rather than individual pixels — shape reveals process.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Unit of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91440" cy="8686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08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Hansen Global Forest Change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forest-loss detections from Landsat time series · 30m resolution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68880"/>
            <a:ext cx="91440" cy="8686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146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7889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10–20m imagery for finer local geometry and spatial context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91440" cy="8686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5204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archive (fallback)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7947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when Sentinel-2 is unavailable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627632"/>
            <a:ext cx="502920" cy="50292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85232" y="1572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 Map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5232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disturbed pixels across the landscape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130552"/>
            <a:ext cx="91440" cy="32004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587752"/>
            <a:ext cx="502920" cy="50292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85232" y="25328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85232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 contiguous pixels grouped together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090672"/>
            <a:ext cx="91440" cy="32004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547872"/>
            <a:ext cx="502920" cy="502920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85232" y="3493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Patch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85232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deforestation event — ready for feature extraction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321040" cy="658368"/>
          </a:xfrm>
          <a:prstGeom prst="rect">
            <a:avLst/>
          </a:prstGeom>
          <a:solidFill>
            <a:srgbClr val="EAF2E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062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framing lets the model reason over event morphology rather than treating each changed pixel independently.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14 Distinct Archetypes Discovered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09728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00784"/>
            <a:ext cx="19202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discovered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109728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7043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700784"/>
            <a:ext cx="19202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as noise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meaningful clusters emerged with zero predefined labels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kept 5.6% as noise — genuine outliers, not forced into categories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separate along size, compactness, elongation, and edge complexity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signals real morphological structure, not coincidence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4251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Summary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508760"/>
            <a:ext cx="4160520" cy="402336"/>
          </a:xfrm>
          <a:prstGeom prst="rect">
            <a:avLst/>
          </a:prstGeom>
          <a:solidFill>
            <a:srgbClr val="1B3A2D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5087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15087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947672"/>
            <a:ext cx="4160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4767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194767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vs. large events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386584"/>
            <a:ext cx="4160520" cy="402336"/>
          </a:xfrm>
          <a:prstGeom prst="rect">
            <a:avLst/>
          </a:prstGeom>
          <a:solidFill>
            <a:srgbClr val="F0F6E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3865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3865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vs. sprawling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825496"/>
            <a:ext cx="4160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82549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Eccentricity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82549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vs. elongated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264408"/>
            <a:ext cx="4160520" cy="402336"/>
          </a:xfrm>
          <a:prstGeom prst="rect">
            <a:avLst/>
          </a:prstGeom>
          <a:solidFill>
            <a:srgbClr val="F0F6E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2644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3264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vs. linear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703320"/>
            <a:ext cx="4160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7033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density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37033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vs. fragmented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4142232"/>
            <a:ext cx="4160520" cy="402336"/>
          </a:xfrm>
          <a:prstGeom prst="rect">
            <a:avLst/>
          </a:prstGeom>
          <a:solidFill>
            <a:srgbClr val="F0F6E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14223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fraction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414223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vs. sparse patches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Archetypes Separate in Feature Space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projection of all deforestation events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05840"/>
            <a:ext cx="530352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0515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0" y="141732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deforestation event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archetype cluster assigned by HDBSCAN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reflects feature similarity — closer = more similar shape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blobs = real separation, not overlap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3520440"/>
            <a:ext cx="2971800" cy="13716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35204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clusters were random, dots would blend together. They don't — the archetypes are real.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Archetypes Tell 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→ 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103120" cy="10515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78608" y="10515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127248" y="1051560"/>
            <a:ext cx="2468880" cy="1051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0515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&amp; Infrastructure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1124712"/>
            <a:ext cx="868680" cy="8686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93408" y="1143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elongated corridors with branching — classic road-building and infrastructure expansion signature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313432"/>
            <a:ext cx="2103120" cy="10515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31343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5D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578608" y="2313432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3127248" y="2313432"/>
            <a:ext cx="2468880" cy="1051560"/>
          </a:xfrm>
          <a:prstGeom prst="rect">
            <a:avLst/>
          </a:prstGeom>
          <a:solidFill>
            <a:srgbClr val="5DB85C"/>
          </a:solidFill>
          <a:ln w="12700">
            <a:solidFill>
              <a:srgbClr val="5DB8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27248" y="231343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Clearing</a:t>
            </a:r>
            <a:endParaRPr lang="en-US" sz="16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0" y="2386584"/>
            <a:ext cx="868680" cy="8686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693408" y="240487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compact footprint — deliberate bulk clearance for cropland or plantation establishment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5760" y="3575304"/>
            <a:ext cx="2103120" cy="10515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3575304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7FB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2578608" y="3575304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19"/>
          <p:cNvSpPr/>
          <p:nvPr/>
        </p:nvSpPr>
        <p:spPr>
          <a:xfrm>
            <a:off x="3127248" y="3575304"/>
            <a:ext cx="2468880" cy="1051560"/>
          </a:xfrm>
          <a:prstGeom prst="rect">
            <a:avLst/>
          </a:prstGeom>
          <a:solidFill>
            <a:srgbClr val="7FBA5A"/>
          </a:solidFill>
          <a:ln w="12700">
            <a:solidFill>
              <a:srgbClr val="7FBA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127248" y="3575304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Logging</a:t>
            </a:r>
            <a:endParaRPr lang="en-US" sz="16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0" y="3648456"/>
            <a:ext cx="868680" cy="8686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93408" y="3666744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edge complexity and broken shape — partial canopy removal leaving scattered residual patches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EAF2E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681728"/>
            <a:ext cx="8275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 can be interpreted before driver labels are available — that's the power of morphology-first discovery.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Archetypes Stable and Learnable?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50492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ARI across seeds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097280"/>
            <a:ext cx="192024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7043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3160" y="1650492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across random seeds (ARI range 0.56–0.78)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2514600"/>
            <a:ext cx="3977640" cy="24231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48463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heatmap — yellow = high agreement across 5 seeds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0" y="1051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kNN classification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0" y="14173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held-out events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Near-diagonal confusion matrix — almost no misclassification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2423160"/>
            <a:ext cx="4251960" cy="2514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484632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confusion matrix — strong diagonal confirms archetypes are learnable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Proxy Risk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archetypes are systematically higher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82880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65049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held-out split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shows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3977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proxy-risk clusters: 2, 9, 10, and 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features: perimeter, mask fraction, bounding box area, compactness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archetypes are consistently 100% high-risk; others near zero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178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42569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26280" y="1051560"/>
            <a:ext cx="2286000" cy="19019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262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(AUC = 0.994)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76288" y="1051560"/>
            <a:ext cx="2011680" cy="19019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76288" y="29077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fraction by archetype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26280" y="3200400"/>
            <a:ext cx="4389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6344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663440" y="361188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archetypes appear systematically more hazardous than others — exactly the kind of signal we want to test against real longitudinal driver labels in future work.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Does It Hold at Scale?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15,000-event Hansen Global Forest Change sample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morphology-first pipeline on a 15,000-event Hansen sample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broader geographic diversity than the development set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modifications — pure transfer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structure still emerges — the idea transfers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heterogeneity makes clusters noisier (expected)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morphology archetypes aren't just a local artifact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498848"/>
            <a:ext cx="4023360" cy="5029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49884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morphology-first idea survives at broader geographic scale.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005840"/>
            <a:ext cx="4251960" cy="34747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0" y="45262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Hansen UMAP — 15,000 events; structure persists despite noisier global diversity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Gallery — Feature Distributions by Archetype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0350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showing how each morphological feature varies across the 14 clusters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274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(px)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25880"/>
            <a:ext cx="2651760" cy="1463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54680" y="1051560"/>
            <a:ext cx="2651760" cy="274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54680" y="1325880"/>
            <a:ext cx="2651760" cy="1463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989320" y="1051560"/>
            <a:ext cx="2651760" cy="274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8932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Eccentricity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9320" y="1325880"/>
            <a:ext cx="2651760" cy="14630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0040" y="3017520"/>
            <a:ext cx="2651760" cy="274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0040" y="3291840"/>
            <a:ext cx="2651760" cy="14630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154680" y="3017520"/>
            <a:ext cx="2651760" cy="274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15468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Density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154680" y="3291840"/>
            <a:ext cx="2651760" cy="14630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989320" y="3017520"/>
            <a:ext cx="2651760" cy="274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98932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Fraction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9320" y="3291840"/>
            <a:ext cx="2651760" cy="1463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85800" cy="3474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has learnable event-level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is not arbitrary — different processes leave distinct geometric fingerprints that emerge consistently across random seeds.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685800" cy="3474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515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453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archetypes add interpretability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013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binary detection to pattern categories makes forest loss more actionable. Archetypes can be interpreted before driver labels are available.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26080"/>
            <a:ext cx="685800" cy="3474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2608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stable and generalizes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98.24% held-out classification accuracy and consistent ARI across seeds. Initial Hansen tests show it survives geographic transfer.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26080"/>
            <a:ext cx="685800" cy="3474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2608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284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validation is the critical next step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6758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open question: do our geometric archetypes align with known ecological drivers? A labeled benchmark will answer this.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451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"forest lost" → "what kind of loss, why, and where to act next"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E22"/>
          </a:solidFill>
          <a:ln w="12700">
            <a:solidFill>
              <a:srgbClr val="162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Discussion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Sagi  ·  Sakethram Naidu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1982</Words>
  <Application>Microsoft Macintosh PowerPoint</Application>
  <PresentationFormat>On-screen Show (16:9)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Forest Loss: Identifying Deforestation Archetypes</dc:title>
  <dc:subject>PptxGenJS Presentation</dc:subject>
  <dc:creator>PptxGenJS</dc:creator>
  <cp:lastModifiedBy>Saketh Ram</cp:lastModifiedBy>
  <cp:revision>4</cp:revision>
  <dcterms:created xsi:type="dcterms:W3CDTF">2026-04-14T19:12:06Z</dcterms:created>
  <dcterms:modified xsi:type="dcterms:W3CDTF">2026-04-21T16:57:41Z</dcterms:modified>
</cp:coreProperties>
</file>